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sldIdLst>
    <p:sldId id="470" r:id="rId5"/>
    <p:sldId id="471" r:id="rId14"/>
    <p:sldId id="472" r:id="rId15"/>
    <p:sldId id="473" r:id="rId16"/>
    <p:sldId id="474" r:id="rId17"/>
    <p:sldId id="475" r:id="rId18"/>
    <p:sldId id="476" r:id="rId19"/>
    <p:sldId id="477" r:id="rId20"/>
    <p:sldId id="478" r:id="rId21"/>
    <p:sldId id="479" r:id="rId22"/>
    <p:sldId id="48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4B2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C0EA3F-7D60-42AD-9E53-61C53203310A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5AA70-D979-4B88-8382-811493EE22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66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6E4DB-C3C8-4AEF-B257-622259F995A0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44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2804-27AD-46EB-A30F-36C72BE5E51A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408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" y="3643538"/>
            <a:ext cx="5943600" cy="818104"/>
          </a:xfrm>
          <a:solidFill>
            <a:srgbClr val="FF3300"/>
          </a:solidFill>
          <a:ln>
            <a:solidFill>
              <a:schemeClr val="bg1"/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718C1-C574-45EF-809F-48B9D5E6E68A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idx="13"/>
          </p:nvPr>
        </p:nvSpPr>
        <p:spPr>
          <a:xfrm>
            <a:off x="-1" y="1923393"/>
            <a:ext cx="8182303" cy="1261241"/>
          </a:xfrm>
          <a:solidFill>
            <a:srgbClr val="FF3300"/>
          </a:solidFill>
          <a:ln>
            <a:solidFill>
              <a:schemeClr val="bg1"/>
            </a:solidFill>
          </a:ln>
        </p:spPr>
        <p:txBody>
          <a:bodyPr anchor="ctr" anchorCtr="0">
            <a:no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836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45EDD-5BD1-4F6F-87C0-D1CD33CBED12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22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3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3" y="2505076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6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F73DB-4B7F-4DA8-A155-8D04A3A773B5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42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7760-AC7C-4DFE-8C94-CB0E4E244786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467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7244-E7A3-4137-BE23-20D882F67965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287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2" y="987428"/>
            <a:ext cx="462915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3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6B10-04D0-4539-B946-B931E151919F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038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2" y="987428"/>
            <a:ext cx="462915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3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EA1C-5F60-41C1-AB42-4A55D5914E0B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29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3CF1-EC6B-413E-8C89-557438528CB0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470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1AF-3B10-4552-951A-44F6B54B4AED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338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4" Type="http://schemas.openxmlformats.org/officeDocument/2006/relationships/image" Target="../media/image2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-15766" y="6337738"/>
            <a:ext cx="9159766" cy="520266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8014" y="365129"/>
            <a:ext cx="8247338" cy="880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545" y="1529256"/>
            <a:ext cx="8215807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526926"/>
            <a:ext cx="2057400" cy="25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fld id="{603BA9F8-E638-4CE9-9BF9-5E847920BFF9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2" y="6526926"/>
            <a:ext cx="3086100" cy="25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526926"/>
            <a:ext cx="1014904" cy="268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7" name="Picture 3" descr="MCET emblem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044634" y="66858"/>
            <a:ext cx="1008711" cy="580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Connector 8"/>
          <p:cNvCxnSpPr/>
          <p:nvPr userDrawn="1"/>
        </p:nvCxnSpPr>
        <p:spPr>
          <a:xfrm>
            <a:off x="-15766" y="6463862"/>
            <a:ext cx="9159766" cy="0"/>
          </a:xfrm>
          <a:prstGeom prst="line">
            <a:avLst/>
          </a:prstGeom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NIA Educational Institutions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859" y="6335548"/>
            <a:ext cx="1099486" cy="52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09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33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3163F9-C974-5165-0CDA-95F42D2205AB}"/>
              </a:ext>
            </a:extLst>
          </p:cNvPr>
          <p:cNvSpPr/>
          <p:nvPr/>
        </p:nvSpPr>
        <p:spPr>
          <a:xfrm>
            <a:off x="7924800" y="41366"/>
            <a:ext cx="11430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2" descr="C:\Users\admin\Downloads\MCET Text logo_V17.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8672" y="102326"/>
            <a:ext cx="8490857" cy="1850571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/>
        </p:nvSpPr>
        <p:spPr>
          <a:xfrm>
            <a:off x="328672" y="2449286"/>
            <a:ext cx="8486657" cy="1959429"/>
          </a:xfrm>
          <a:prstGeom prst="rect">
            <a:avLst/>
          </a:prstGeom>
        </p:spPr>
        <p:txBody>
          <a:bodyPr vert="horz" lIns="91407" tIns="45705" rIns="91407" bIns="45705" rtlCol="0" anchor="ctr">
            <a:normAutofit/>
          </a:bodyPr>
          <a:lstStyle>
            <a:lvl1pPr algn="l" defTabSz="12796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kern="120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endParaRPr lang="en-IN" sz="1714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43" y="2013857"/>
            <a:ext cx="8382000" cy="3102429"/>
          </a:xfrm>
          <a:solidFill>
            <a:schemeClr val="bg1"/>
          </a:solidFill>
        </p:spPr>
        <p:txBody>
          <a:bodyPr vert="horz" lIns="91407" tIns="45705" rIns="91407" bIns="45705" rtlCol="0" anchor="t">
            <a:normAutofit/>
          </a:bodyPr>
          <a:lstStyle/>
          <a:p>
            <a:pPr marL="0" indent="0" algn="ctr">
              <a:buNone/>
            </a:pPr>
            <a:endParaRPr lang="en-US" dirty="0">
              <a:solidFill>
                <a:schemeClr val="accent3">
                  <a:lumMod val="75000"/>
                </a:schemeClr>
              </a:solidFill>
              <a:cs typeface="Times New Roman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33022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Crop Weather Intelligence</a:t>
            </a:r>
          </a:p>
          <a:p>
            <a:r>
              <a:t>(Weather-Based Crop Prediction)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Domain: Machine Learning &amp; Agricultural Data Analytics</a:t>
            </a:r>
          </a:p>
          <a:p>
            <a:r>
              <a:t>Abstract: Analyzing climate inputs to recommend optimal crops using Decision Trees.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Crop Weather Intelligence</a:t>
            </a:r>
          </a:p>
          <a:p>
            <a:r>
              <a:t>(Weather-Based Crop Prediction)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Domain: Machine Learning &amp; Agricultural Data Analytics</a:t>
            </a:r>
          </a:p>
          <a:p>
            <a:r>
              <a:t>Abstract: Analyzing climate inputs to recommend optimal crops using Decision Trees.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Scope &amp; Objectives:</a:t>
            </a:r>
          </a:p>
          <a:p>
            <a:r>
              <a:t>- Provide accessible, reliable crop recommendations.</a:t>
            </a:r>
          </a:p>
          <a:p>
            <a:r>
              <a:t>- Maximize yield and mitigate financial risks.</a:t>
            </a:r>
          </a:p>
          <a:p/>
          <a:p>
            <a:r>
              <a:t>System Description:</a:t>
            </a:r>
          </a:p>
          <a:p>
            <a:r>
              <a:t>- Full-stack app with dynamic web GUI mapped to robust Python ML backend.</a:t>
            </a:r>
          </a:p>
          <a:p/>
          <a:p>
            <a:r>
              <a:t>Proposed System:</a:t>
            </a:r>
          </a:p>
          <a:p>
            <a:r>
              <a:t>- Responsive search portal with automated pipeline generating 1000+ crops.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Scope &amp; Objectives:</a:t>
            </a:r>
          </a:p>
          <a:p>
            <a:r>
              <a:t>- Provide accessible, reliable crop recommendations.</a:t>
            </a:r>
          </a:p>
          <a:p>
            <a:r>
              <a:t>- Maximize yield and mitigate financial risks.</a:t>
            </a:r>
          </a:p>
          <a:p/>
          <a:p>
            <a:r>
              <a:t>System Description:</a:t>
            </a:r>
          </a:p>
          <a:p>
            <a:r>
              <a:t>- Full-stack app with dynamic web GUI mapped to robust Python ML backend.</a:t>
            </a:r>
          </a:p>
          <a:p/>
          <a:p>
            <a:r>
              <a:t>Proposed System:</a:t>
            </a:r>
          </a:p>
          <a:p>
            <a:r>
              <a:t>- Responsive search portal with automated pipeline generating 1000+ crops.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 Requirements:</a:t>
            </a:r>
          </a:p>
          <a:p>
            <a:r>
              <a:t>- Core CPU, 2GB+ RAM, 500MB+ Storage</a:t>
            </a:r>
          </a:p>
          <a:p/>
          <a:p>
            <a:r>
              <a:t>Software Requirements:</a:t>
            </a:r>
          </a:p>
          <a:p>
            <a:r>
              <a:t>- Windows/Linux/macOS</a:t>
            </a:r>
          </a:p>
          <a:p>
            <a:r>
              <a:t>- Python, Web Browser</a:t>
            </a:r>
          </a:p>
          <a:p>
            <a:r>
              <a:t>- Pandas, Scikit-Learn, HTML/JS/CSS</a:t>
            </a:r>
          </a:p>
          <a:p/>
          <a:p>
            <a:r>
              <a:t>Characteristics:</a:t>
            </a:r>
          </a:p>
          <a:p>
            <a:r>
              <a:t>- Responsive UI, scalable DB</a:t>
            </a:r>
          </a:p>
          <a:p>
            <a:r>
              <a:t>- Cross-browser compatible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 Requirements:</a:t>
            </a:r>
          </a:p>
          <a:p>
            <a:r>
              <a:t>- Core CPU, 2GB+ RAM, 500MB+ Storage</a:t>
            </a:r>
          </a:p>
          <a:p/>
          <a:p>
            <a:r>
              <a:t>Software Requirements:</a:t>
            </a:r>
          </a:p>
          <a:p>
            <a:r>
              <a:t>- Windows/Linux/macOS</a:t>
            </a:r>
          </a:p>
          <a:p>
            <a:r>
              <a:t>- Python, Web Browser</a:t>
            </a:r>
          </a:p>
          <a:p>
            <a:r>
              <a:t>- Pandas, Scikit-Learn, HTML/JS/CSS</a:t>
            </a:r>
          </a:p>
          <a:p/>
          <a:p>
            <a:r>
              <a:t>Characteristics:</a:t>
            </a:r>
          </a:p>
          <a:p>
            <a:r>
              <a:t>- Responsive UI, scalable DB</a:t>
            </a:r>
          </a:p>
          <a:p>
            <a:r>
              <a:t>- Cross-browser compatible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Requirements:</a:t>
            </a:r>
          </a:p>
          <a:p>
            <a:r>
              <a:t>- Accept temp, rain, humidity inputs -&gt; return prediction.</a:t>
            </a:r>
          </a:p>
          <a:p>
            <a:r>
              <a:t>- Catalog search for localized needs.</a:t>
            </a:r>
          </a:p>
          <a:p/>
          <a:p>
            <a:r>
              <a:t>Non-Functional Requirement:</a:t>
            </a:r>
          </a:p>
          <a:p>
            <a:r>
              <a:t>- Scalable to 1000+ crops, fast load speed.</a:t>
            </a:r>
          </a:p>
          <a:p/>
          <a:p>
            <a:r>
              <a:t>External Interfaces:</a:t>
            </a:r>
          </a:p>
          <a:p>
            <a:r>
              <a:t>- Particle.js backgrounds, FontAwesome.</a:t>
            </a:r>
          </a:p>
          <a:p/>
          <a:p>
            <a:r>
              <a:t>Performance:</a:t>
            </a:r>
          </a:p>
          <a:p>
            <a:r>
              <a:t>- ML execution avoids memory overflow; Lookups &lt; 500ms.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Plan (Gantt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T1 [Week 1]: Requirement Analysis &amp; Domain Research</a:t>
            </a:r>
          </a:p>
          <a:p>
            <a:r>
              <a:t>T2 [Week 2-3]: UI/UX Design &amp; Frontend Implementation</a:t>
            </a:r>
          </a:p>
          <a:p>
            <a:r>
              <a:t>T3 [Week 4]: Dataset Generation (Synthetic Modeling)</a:t>
            </a:r>
          </a:p>
          <a:p>
            <a:r>
              <a:t>T4 [Week 5]: ML Model Training &amp; Optimization</a:t>
            </a:r>
          </a:p>
          <a:p>
            <a:r>
              <a:t>T5 [Week 6]: System Integration &amp; Delivery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Flowchart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Integration:</a:t>
            </a:r>
          </a:p>
          <a:p>
            <a:r>
              <a:t>- User Request -&gt; UI Frontend (HTML/CSS)</a:t>
            </a:r>
          </a:p>
          <a:p>
            <a:r>
              <a:t>- UI -&gt; JavaScript Runtime</a:t>
            </a:r>
          </a:p>
          <a:p/>
          <a:p>
            <a:r>
              <a:t>Backend Integration:</a:t>
            </a:r>
          </a:p>
          <a:p>
            <a:r>
              <a:t>- Dataset Generation (generate.py) -&gt; CSV Creation</a:t>
            </a:r>
          </a:p>
          <a:p>
            <a:r>
              <a:t>- ML Training Pipeline (train.py) -&gt; Decision Tree Eval (test.py)</a:t>
            </a:r>
          </a:p>
          <a:p/>
          <a:p>
            <a:r>
              <a:t>Result:</a:t>
            </a:r>
          </a:p>
          <a:p>
            <a:r>
              <a:t>- Prediction -&gt; User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 Interface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ui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of Solution (SRS)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Process:</a:t>
            </a:r>
          </a:p>
          <a:p>
            <a:r>
              <a:t>- Precise climate metrics (Temp/Rain/Humidity).</a:t>
            </a:r>
          </a:p>
          <a:p/>
          <a:p>
            <a:r>
              <a:t>Output:</a:t>
            </a:r>
          </a:p>
          <a:p>
            <a:r>
              <a:t>- Model predicts class label (Crop Name) + rich metadata.</a:t>
            </a:r>
          </a:p>
          <a:p/>
          <a:p>
            <a:r>
              <a:t>Data Storage:</a:t>
            </a:r>
          </a:p>
          <a:p>
            <a:r>
              <a:t>- Local formats (.csv for ML, .js for Catalog) -&gt; scalable.</a:t>
            </a:r>
          </a:p>
          <a:p/>
          <a:p>
            <a:r>
              <a:t>Menu Design:</a:t>
            </a:r>
          </a:p>
          <a:p>
            <a:r>
              <a:t>- Hero Menu, Analysis Tool, Tabulated Results Pane.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Programming Code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Standardization:</a:t>
            </a:r>
          </a:p>
          <a:p>
            <a:r>
              <a:t>- ES6 JavaScript, Modular Python imports, HTML5 layout.</a:t>
            </a:r>
          </a:p>
          <a:p/>
          <a:p>
            <a:r>
              <a:t>Comments &amp; Documentation:</a:t>
            </a:r>
          </a:p>
          <a:p>
            <a:r>
              <a:t>- Math operations &amp; dataset generations thoroughly commented.</a:t>
            </a:r>
          </a:p>
          <a:p/>
          <a:p>
            <a:r>
              <a:t>Error Handling:</a:t>
            </a:r>
          </a:p>
          <a:p>
            <a:r>
              <a:t>- Try/Except in Python.</a:t>
            </a:r>
          </a:p>
          <a:p>
            <a:r>
              <a:t>- MemoryError catching for 32-bit limits.</a:t>
            </a:r>
          </a:p>
          <a:p>
            <a:r>
              <a:t>- UI fallback (Crop Not Found).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Plan:</a:t>
            </a:r>
          </a:p>
          <a:p>
            <a:r>
              <a:t>- Validate dateset integrity, ML accuracy, and workflows.</a:t>
            </a:r>
          </a:p>
          <a:p/>
          <a:p>
            <a:r>
              <a:t>Test Cases Executed:</a:t>
            </a:r>
          </a:p>
          <a:p>
            <a:r>
              <a:t>- Warm/Wet: Temp 28.5C, Rain 210mm -&gt; Rice (PASS)</a:t>
            </a:r>
          </a:p>
          <a:p>
            <a:r>
              <a:t>- Cool/Dry: Temp 18.0C, Rain 80mm -&gt; Wheat (PASS)</a:t>
            </a:r>
          </a:p>
          <a:p/>
          <a:p>
            <a:r>
              <a:t>Testing Methodologies:</a:t>
            </a:r>
          </a:p>
          <a:p>
            <a:r>
              <a:t>- Black Box Testing (ML predictions)</a:t>
            </a:r>
          </a:p>
          <a:p>
            <a:r>
              <a:t>- Integration Testing (raw .csv to Pandas Dataframe)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4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FF3300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FF3300"/>
      </a:hlink>
      <a:folHlink>
        <a:srgbClr val="000000"/>
      </a:folHlink>
    </a:clrScheme>
    <a:fontScheme name="Custom 2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4DB0E422628E498CAB173F47079CA5" ma:contentTypeVersion="2" ma:contentTypeDescription="Create a new document." ma:contentTypeScope="" ma:versionID="9f9d34a288f8b3464df0bfd6dd009377">
  <xsd:schema xmlns:xsd="http://www.w3.org/2001/XMLSchema" xmlns:xs="http://www.w3.org/2001/XMLSchema" xmlns:p="http://schemas.microsoft.com/office/2006/metadata/properties" xmlns:ns2="2e23bac1-ff14-4532-862d-b65036cbee0c" targetNamespace="http://schemas.microsoft.com/office/2006/metadata/properties" ma:root="true" ma:fieldsID="05f6c82f9d090c7ecb7b9272a586379c" ns2:_="">
    <xsd:import namespace="2e23bac1-ff14-4532-862d-b65036cbee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23bac1-ff14-4532-862d-b65036cbe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CAC420-5931-445B-B72B-8CCFAFAB625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2e23bac1-ff14-4532-862d-b65036cbee0c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D7E1457-6187-406A-B8D4-F37986B6F7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23bac1-ff14-4532-862d-b65036cbee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F9C6BB-BFBA-408C-B03D-5D03871911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660</TotalTime>
  <Words>2</Words>
  <Application>Microsoft Office PowerPoint</Application>
  <PresentationFormat>On-screen Show (4:3)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</vt:lpstr>
      <vt:lpstr>Times New Roman</vt:lpstr>
      <vt:lpstr>1_Office Theme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</dc:title>
  <dc:creator>CCLAB</dc:creator>
  <cp:lastModifiedBy>Hirako Dina</cp:lastModifiedBy>
  <cp:revision>87</cp:revision>
  <dcterms:created xsi:type="dcterms:W3CDTF">2017-07-25T03:19:14Z</dcterms:created>
  <dcterms:modified xsi:type="dcterms:W3CDTF">2026-03-26T13:15:18Z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0x010100CE4DB0E422628E498CAB173F47079CA5</vt:lpwstr>
  </property>
</Properties>
</file>